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Zlomky ve 4. třídě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FBF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Sčítání a odčítání se stejným jmenovatelem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E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Sčítání zlomků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303520" cy="2377440"/>
          </a:xfrm>
          <a:prstGeom prst="roundRect">
            <a:avLst>
              <a:gd name="adj" fmla="val 5385"/>
            </a:avLst>
          </a:prstGeom>
          <a:solidFill>
            <a:srgbClr val="F0FDFA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22860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2</m:t>
                    </m:r>
                  </m:num>
                  <m:den>
                    <m:r>
                      <m:t xml:space="preserve">7</m:t>
                    </m:r>
                  </m:den>
                </m:f>
                <m:r>
                  <m:t xml:space="preserve">+</m:t>
                </m:r>
                <m:f>
                  <m:fPr>
                    <m:type m:val="bar"/>
                  </m:fPr>
                  <m:num>
                    <m:r>
                      <m:t xml:space="preserve">3</m:t>
                    </m:r>
                  </m:num>
                  <m:den>
                    <m:r>
                      <m:t xml:space="preserve">7</m:t>
                    </m:r>
                  </m:den>
                </m:f>
                <m:r>
                  <m:t xml:space="preserve">=</m:t>
                </m:r>
                <m:f>
                  <m:fPr>
                    <m:type m:val="bar"/>
                  </m:fPr>
                  <m:num>
                    <m:r>
                      <m:t xml:space="preserve">5</m:t>
                    </m:r>
                  </m:num>
                  <m:den>
                    <m:r>
                      <m:t xml:space="preserve">7</m:t>
                    </m:r>
                  </m:den>
                </m:f>
              </m:oMath>
            </a14:m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0" y="19202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Sečti čitatele.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Jmenovatel opiš.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Výsledek zkrať, pokud to jde.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E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Procvič si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737360"/>
          <a:ext cx="94183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3931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Příklad</a:t>
                      </a:r>
                      <a:endParaRPr lang="en-US" sz="2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Výsledek</a:t>
                      </a:r>
                      <a:endParaRPr lang="en-US" sz="2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1/5 + 2/5</a:t>
                      </a:r>
                      <a:endParaRPr lang="en-US" sz="2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3/5</a:t>
                      </a:r>
                      <a:endParaRPr lang="en-US" sz="2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7/9 − 4/9</a:t>
                      </a:r>
                      <a:endParaRPr lang="en-US" sz="2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3/9 = 1/3</a:t>
                      </a:r>
                      <a:endParaRPr lang="en-US" sz="2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E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Polovina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F766E"/>
                </a:solidFill>
              </a:rPr>
              <a:t>Nejznámější zlomek: </a:t>
            </a:r>
            <a14:m xmlns:a14="http://schemas.microsoft.com/office/drawing/2010/main">
              <m:oMath xmlns:m="http://schemas.openxmlformats.org/officeDocument/2006/math" xmlns:w="http://schemas.openxmlformats.org/wordprocessingml/2006/main">
                <m:f>
                  <m:fPr>
                    <m:type m:val="bar"/>
                  </m:fPr>
                  <m:num>
                    <m:r>
                      <m:t xml:space="preserve">1</m:t>
                    </m:r>
                  </m:num>
                  <m:den>
                    <m:r>
                      <m:t xml:space="preserve">2</m:t>
                    </m:r>
                  </m:den>
                </m:f>
                <m:r>
                  <m:t xml:space="preserve">=0.5</m:t>
                </m:r>
              </m:oMath>
            </a14:m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2026-08-11T20:38:30Z</dcterms:created>
  <dcterms:modified xsi:type="dcterms:W3CDTF">2026-08-11T20:38:30Z</dcterms:modified>
</cp:coreProperties>
</file>