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Úvod do tématu zlomků pro žáky 4. třídy.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21792" y="6547104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ZLOMKY  •  MATEMATIKA PRO 4. TŘÍDU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502920"/>
            <a:ext cx="2468880" cy="2468880"/>
          </a:xfrm>
          <a:prstGeom prst="arc">
            <a:avLst/>
          </a:prstGeom>
          <a:solidFill>
            <a:srgbClr val="0EA5E9">
              <a:alpha val="0"/>
            </a:srgbClr>
          </a:solidFill>
          <a:ln w="381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32520" y="4251960"/>
            <a:ext cx="530352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54312" y="4251960"/>
            <a:ext cx="530352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76104" y="4251960"/>
            <a:ext cx="530352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97896" y="4251960"/>
            <a:ext cx="530352" cy="530352"/>
          </a:xfrm>
          <a:prstGeom prst="rect">
            <a:avLst/>
          </a:prstGeom>
          <a:solidFill>
            <a:srgbClr val="E0F2FE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713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D3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MATEMATIKA  /  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444752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Zlomky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kolem nás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49808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AE6F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Matematika pro 4. třídu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5074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Části celku, které umíme číst, porovnávat a počítat.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35640" y="5989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 ZÁKLAD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 je to zlomek?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Zlomek popisuje, kolik stejných částí z celku máme.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4892040" cy="4069080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1488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21742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CELÝ CELEK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čokoláda / pizza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60120" y="3337560"/>
            <a:ext cx="658368" cy="1143000"/>
          </a:xfrm>
          <a:prstGeom prst="rect">
            <a:avLst/>
          </a:prstGeom>
          <a:solidFill>
            <a:srgbClr val="A5E3F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1640" y="3337560"/>
            <a:ext cx="658368" cy="1143000"/>
          </a:xfrm>
          <a:prstGeom prst="rect">
            <a:avLst/>
          </a:prstGeom>
          <a:solidFill>
            <a:srgbClr val="A5E3F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3337560"/>
            <a:ext cx="658368" cy="1143000"/>
          </a:xfrm>
          <a:prstGeom prst="rect">
            <a:avLst/>
          </a:prstGeom>
          <a:solidFill>
            <a:srgbClr val="A5E3F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3337560"/>
            <a:ext cx="658368" cy="1143000"/>
          </a:xfrm>
          <a:prstGeom prst="rect">
            <a:avLst/>
          </a:prstGeom>
          <a:solidFill>
            <a:srgbClr val="E0F2F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4983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Celý celek rozdělíme na 4 stejné díly.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7880" y="1828800"/>
            <a:ext cx="5623560" cy="4069080"/>
          </a:xfrm>
          <a:prstGeom prst="roundRect">
            <a:avLst>
              <a:gd name="adj" fmla="val 35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Zápis zlomku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464808" y="3026664"/>
            <a:ext cx="34747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30540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15200" y="27797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čitatel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0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Kolik dílů máme.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jmenovatel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40965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 kolik stejných dílů celek dělíme.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 PŘEDSTAVA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Část a celistvost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Stejné díly jsou klíčové. Čím více dílů, tím menší každý díl.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3383280" cy="38862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2128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Polovina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2688" y="260604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celek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2688" y="3154680"/>
            <a:ext cx="1367028" cy="658368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27148" y="3154680"/>
            <a:ext cx="1367028" cy="65836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1024128" y="4626864"/>
            <a:ext cx="34747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46542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645920" y="4416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 2 stejných dílů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53128" y="1901952"/>
            <a:ext cx="3383280" cy="38862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27448" y="22128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Třetina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27448" y="260604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celek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27448" y="3154680"/>
            <a:ext cx="902208" cy="658368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57088" y="3154680"/>
            <a:ext cx="902208" cy="65836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6728" y="3154680"/>
            <a:ext cx="902208" cy="65836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43434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4818888" y="4626864"/>
            <a:ext cx="34747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46542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5440680" y="4416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 3 stejných dílů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47888" y="1901952"/>
            <a:ext cx="3383280" cy="38862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22208" y="22128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Čtvrtina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522208" y="260604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celek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22208" y="3154680"/>
            <a:ext cx="669798" cy="658368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219438" y="3154680"/>
            <a:ext cx="669798" cy="65836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916668" y="3154680"/>
            <a:ext cx="669798" cy="65836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613898" y="3154680"/>
            <a:ext cx="669798" cy="65836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95360" y="43434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300" dirty="0"/>
          </a:p>
        </p:txBody>
      </p:sp>
      <p:sp>
        <p:nvSpPr>
          <p:cNvPr id="32" name="Shape 30"/>
          <p:cNvSpPr/>
          <p:nvPr/>
        </p:nvSpPr>
        <p:spPr>
          <a:xfrm>
            <a:off x="8613648" y="4626864"/>
            <a:ext cx="34747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95360" y="46542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9235440" y="4416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 4 stejných dílů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 SČÍTÁNÍ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Sčítání zlomků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Sčítáme části, které mají stejně velké díly.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6629400" cy="384048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DD3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PRAVIDLO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263347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Jmenovatel zůstává stejný.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Sečteme čitatele.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0690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Příklad:  </a:t>
            </a:r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1</m:t>
                    </m:r>
                  </m:num>
                  <m:den>
                    <m:r>
                      <m:t xml:space="preserve">4</m:t>
                    </m:r>
                  </m:den>
                </m:f>
              </m:oMath>
            </a14:m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+</m:t>
                </m:r>
              </m:oMath>
            </a14:m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2</m:t>
                    </m:r>
                  </m:num>
                  <m:den>
                    <m:r>
                      <m:t xml:space="preserve">4</m:t>
                    </m:r>
                  </m:den>
                </m:f>
              </m:oMath>
            </a14:m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=</m:t>
                </m:r>
              </m:oMath>
            </a14:m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3</m:t>
                    </m:r>
                  </m:num>
                  <m:den>
                    <m:r>
                      <m:t xml:space="preserve">4</m:t>
                    </m:r>
                  </m:den>
                </m:f>
              </m:oMath>
            </a14:m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024128" y="5029200"/>
            <a:ext cx="1321308" cy="384048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72868" y="5029200"/>
            <a:ext cx="1321308" cy="384048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21608" y="5029200"/>
            <a:ext cx="1321308" cy="384048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70348" y="5029200"/>
            <a:ext cx="1321308" cy="38404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26680" y="1847088"/>
            <a:ext cx="3794760" cy="3840480"/>
          </a:xfrm>
          <a:prstGeom prst="roundRect">
            <a:avLst>
              <a:gd name="adj" fmla="val 3855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9244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Pamatuj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92440" y="27889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Stejné díly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+ stejné díly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= více dílů.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8092440" y="49834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92440" y="505206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+ 2 =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  ODČÍTÁNÍ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Odčítání zlomků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Když části odebíráme, jmenovatel se také nemění.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4846320" cy="3886200"/>
          </a:xfrm>
          <a:prstGeom prst="roundRect">
            <a:avLst>
              <a:gd name="adj" fmla="val 3765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BYLO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2724912"/>
            <a:ext cx="944118" cy="566928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77390" y="2724912"/>
            <a:ext cx="944118" cy="566928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48940" y="2724912"/>
            <a:ext cx="944118" cy="566928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20490" y="2724912"/>
            <a:ext cx="944118" cy="56692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ODEBEREME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4160520"/>
            <a:ext cx="944118" cy="566928"/>
          </a:xfrm>
          <a:prstGeom prst="rect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77390" y="4160520"/>
            <a:ext cx="944118" cy="56692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48940" y="4160520"/>
            <a:ext cx="944118" cy="56692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920490" y="4160520"/>
            <a:ext cx="944118" cy="56692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5074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ZŮSTANE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5504688"/>
            <a:ext cx="944118" cy="384048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977390" y="5504688"/>
            <a:ext cx="944118" cy="384048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48940" y="5504688"/>
            <a:ext cx="944118" cy="38404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20490" y="5504688"/>
            <a:ext cx="944118" cy="384048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97880" y="1847088"/>
            <a:ext cx="5623560" cy="38862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91072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Příklad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8346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3</m:t>
                    </m:r>
                  </m:num>
                  <m:den>
                    <m:r>
                      <m:t xml:space="preserve">4</m:t>
                    </m:r>
                  </m:den>
                </m:f>
              </m:oMath>
            </a14:m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−</m:t>
                </m:r>
              </m:oMath>
            </a14:m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1</m:t>
                    </m:r>
                  </m:num>
                  <m:den>
                    <m:r>
                      <m:t xml:space="preserve">4</m:t>
                    </m:r>
                  </m:den>
                </m:f>
              </m:oMath>
            </a14:m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=</m:t>
                </m:r>
              </m:oMath>
            </a14:m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2</m:t>
                    </m:r>
                  </m:num>
                  <m:den>
                    <m:r>
                      <m:t xml:space="preserve">4</m:t>
                    </m:r>
                  </m:den>
                </m:f>
              </m:oMath>
            </a14:m>
            <a:endParaRPr lang="en-US" sz="2900" dirty="0"/>
          </a:p>
        </p:txBody>
      </p:sp>
      <p:sp>
        <p:nvSpPr>
          <p:cNvPr id="24" name="Text 22"/>
          <p:cNvSpPr/>
          <p:nvPr/>
        </p:nvSpPr>
        <p:spPr>
          <a:xfrm>
            <a:off x="6309360" y="3977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Čitatel odečteme,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jmenovatel opíšeme.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  PROCVIČENÍ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Procvičení 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Vyřeš nejprve sám. Potom otoč kartu a zkontroluj postup.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383280" cy="39136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17627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22448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ÚLOHA 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2880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1</m:t>
                    </m:r>
                  </m:num>
                  <m:den>
                    <m:r>
                      <m:t xml:space="preserve">5</m:t>
                    </m:r>
                  </m:den>
                </m:f>
                <m:r>
                  <m:t xml:space="preserve">+</m:t>
                </m:r>
                <m:f>
                  <m:fPr>
                    <m:type m:val="bar"/>
                  </m:fPr>
                  <m:num>
                    <m:r>
                      <m:t xml:space="preserve">3</m:t>
                    </m:r>
                  </m:num>
                  <m:den>
                    <m:r>
                      <m:t xml:space="preserve">5</m:t>
                    </m:r>
                  </m:den>
                </m:f>
              </m:oMath>
            </a14:m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042416" y="3657600"/>
            <a:ext cx="261518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2416" y="39136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Řešení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42416" y="42976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4/5</m:t>
                </m:r>
              </m:oMath>
            </a14:m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42416" y="5056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Stejný jmenovatel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počítáme čitatele.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53128" y="1874520"/>
            <a:ext cx="3383280" cy="39136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27448" y="217627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27448" y="22448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ÚLOHA B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2880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4</m:t>
                    </m:r>
                  </m:num>
                  <m:den>
                    <m:r>
                      <m:t xml:space="preserve">6</m:t>
                    </m:r>
                  </m:den>
                </m:f>
                <m:r>
                  <m:t xml:space="preserve">−</m:t>
                </m:r>
                <m:f>
                  <m:fPr>
                    <m:type m:val="bar"/>
                  </m:fPr>
                  <m:num>
                    <m:r>
                      <m:t xml:space="preserve">2</m:t>
                    </m:r>
                  </m:num>
                  <m:den>
                    <m:r>
                      <m:t xml:space="preserve">6</m:t>
                    </m:r>
                  </m:den>
                </m:f>
              </m:oMath>
            </a14:m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4837176" y="3657600"/>
            <a:ext cx="261518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37176" y="39136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Řešení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42976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2/6</m:t>
                </m:r>
              </m:oMath>
            </a14:m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37176" y="5056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Stejný jmenovatel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počítáme čitatele.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47888" y="1874520"/>
            <a:ext cx="3383280" cy="39136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22208" y="217627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22208" y="22448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ÚLOHA C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631936" y="2880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2</m:t>
                    </m:r>
                  </m:num>
                  <m:den>
                    <m:r>
                      <m:t xml:space="preserve">8</m:t>
                    </m:r>
                  </m:den>
                </m:f>
                <m:r>
                  <m:t xml:space="preserve">+</m:t>
                </m:r>
                <m:f>
                  <m:fPr>
                    <m:type m:val="bar"/>
                  </m:fPr>
                  <m:num>
                    <m:r>
                      <m:t xml:space="preserve">5</m:t>
                    </m:r>
                  </m:num>
                  <m:den>
                    <m:r>
                      <m:t xml:space="preserve">8</m:t>
                    </m:r>
                  </m:den>
                </m:f>
              </m:oMath>
            </a14:m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8631936" y="3657600"/>
            <a:ext cx="261518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31936" y="39136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Řešení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631936" y="42976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7/8</m:t>
                </m:r>
              </m:oMath>
            </a14:m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631936" y="5056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Stejný jmenovatel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počítáme čitatele.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06  NÁSOBENÍ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Násobení zlomků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Násobení celým číslem znamená vzít stejnou část vícekrát.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731520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212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Dvakrát jedna třetina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005840" y="2971800"/>
            <a:ext cx="1984248" cy="621792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17520" y="2971800"/>
            <a:ext cx="1984248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0" y="2971800"/>
            <a:ext cx="1984248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3913632"/>
            <a:ext cx="1984248" cy="621792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17520" y="3913632"/>
            <a:ext cx="1984248" cy="621792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3913632"/>
            <a:ext cx="1984248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20840" y="3154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1/3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40965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2/3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39328" y="1828800"/>
            <a:ext cx="3182112" cy="3977640"/>
          </a:xfrm>
          <a:prstGeom prst="roundRect">
            <a:avLst>
              <a:gd name="adj" fmla="val 4598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05088" y="2240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Zápis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05088" y="29718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1</m:t>
                    </m:r>
                  </m:num>
                  <m:den>
                    <m:r>
                      <m:t xml:space="preserve">3</m:t>
                    </m:r>
                  </m:den>
                </m:f>
              </m:oMath>
            </a14:m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⋅2=</m:t>
                </m:r>
              </m:oMath>
            </a14:m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2</m:t>
                    </m:r>
                  </m:num>
                  <m:den>
                    <m:r>
                      <m:t xml:space="preserve">3</m:t>
                    </m:r>
                  </m:den>
                </m:f>
              </m:oMath>
            </a14:m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705088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Čitatel násobíme.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Jmenovatel zatím zůstává.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07  DĚLENÍ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Dělení zlomků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Dělit můžeme jako spravedlivě rozdávat části.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4663440" cy="3794760"/>
          </a:xfrm>
          <a:prstGeom prst="roundRect">
            <a:avLst>
              <a:gd name="adj" fmla="val 3855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22128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7DD3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PŘÍKLAD ZE ŽIVOTA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Máme 1/2 pizzy.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Rozdělíme ji mezi 2 děti.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87552" y="4709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AE6F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Každé dítě dostane 1/4.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0" y="1856232"/>
            <a:ext cx="5760720" cy="3794760"/>
          </a:xfrm>
          <a:prstGeom prst="roundRect">
            <a:avLst>
              <a:gd name="adj" fmla="val 38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2200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Rozdělíme polovinu na dvě stejné části: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9632" y="2971800"/>
            <a:ext cx="2212848" cy="621792"/>
          </a:xfrm>
          <a:prstGeom prst="rect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39912" y="2971800"/>
            <a:ext cx="2212848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35640" y="3154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1/2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400507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1</m:t>
                    </m:r>
                  </m:num>
                  <m:den>
                    <m:r>
                      <m:t xml:space="preserve">2</m:t>
                    </m:r>
                  </m:den>
                </m:f>
                <m:r>
                  <m:t xml:space="preserve">:2=</m:t>
                </m:r>
              </m:oMath>
            </a14:m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1</m:t>
                    </m:r>
                  </m:num>
                  <m:den>
                    <m:r>
                      <m:t xml:space="preserve">4</m:t>
                    </m:r>
                  </m:den>
                </m:f>
              </m:oMath>
            </a14:m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199632" y="4800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Dělení zmenší počet částí,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které připadnou každému.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08  PŘEHLED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Přehled operací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Čtyři operace – čtyři způsoby, jak se zlomky mění.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507492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221992"/>
            <a:ext cx="786384" cy="7863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236829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+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984248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Sčítání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84248" y="2496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Čitatele sečteme.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84248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1/5 + 2/5 = 3/5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81928" y="1874520"/>
            <a:ext cx="507492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56248" y="2221992"/>
            <a:ext cx="786384" cy="7863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56248" y="236829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−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607808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Odčítání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07808" y="2496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Čitatele odečteme.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07808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4/5 − 1/5 = 3/5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40480"/>
            <a:ext cx="507492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2688" y="4187952"/>
            <a:ext cx="786384" cy="7863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2688" y="433425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×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1984248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Násobení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84248" y="44622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Bereme část vícekrát.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84248" y="4800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1/3 × 2 = 2/3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81928" y="3840480"/>
            <a:ext cx="507492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56248" y="4187952"/>
            <a:ext cx="786384" cy="7863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56248" y="433425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607808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Dělení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07808" y="44622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Část rozdělíme.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07808" y="4800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1/2 : 2 = 1/4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09  VYUŽITÍ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Zlomky v reálném životě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Zlomky potkáváme každý den – při vaření, měření i dělení.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5074920" cy="1600200"/>
          </a:xfrm>
          <a:prstGeom prst="roundRect">
            <a:avLst>
              <a:gd name="adj" fmla="val 9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0976" y="21305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55648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Vaření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55648" y="2532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1/2 hrnku mléka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55648" y="28803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odměřování surovin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81928" y="1874520"/>
            <a:ext cx="5074920" cy="1600200"/>
          </a:xfrm>
          <a:prstGeom prst="roundRect">
            <a:avLst>
              <a:gd name="adj" fmla="val 9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74536" y="21305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79208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79208" y="2532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1/4 hodiny = 15 minut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79208" y="28803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čtvrt hodiny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3840480"/>
            <a:ext cx="5074920" cy="1600200"/>
          </a:xfrm>
          <a:prstGeom prst="roundRect">
            <a:avLst>
              <a:gd name="adj" fmla="val 9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0976" y="409651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55648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Peníze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55648" y="44988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1/2 z 20 Kč = 10 Kč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55648" y="4846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spravedlivé dělení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81928" y="3840480"/>
            <a:ext cx="5074920" cy="1600200"/>
          </a:xfrm>
          <a:prstGeom prst="roundRect">
            <a:avLst>
              <a:gd name="adj" fmla="val 9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74536" y="409651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79208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Jídlo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79208" y="44988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1/4 pizzy pro každého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79208" y="4846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dělení na díly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 OVĚŘENÍ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Kvíz / Rychlé opálení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Zvedni ruku, pokud znáš odpověď.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383280" cy="34747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0976" y="2221992"/>
            <a:ext cx="566928" cy="5669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50976" y="23591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0976" y="3063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Kolik je 1/4 + 2/4?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61288" y="4050792"/>
            <a:ext cx="2377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52728" y="440740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52728" y="44759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ODPOVĚĎ:  3/4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53128" y="1920240"/>
            <a:ext cx="3383280" cy="34747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45736" y="2221992"/>
            <a:ext cx="566928" cy="5669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45736" y="23591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45736" y="3063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Kolik je 3/5 − 1/5?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56048" y="4050792"/>
            <a:ext cx="2377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47488" y="440740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47488" y="44759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ODPOVĚĎ:  2/5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47888" y="1920240"/>
            <a:ext cx="3383280" cy="34747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40496" y="2221992"/>
            <a:ext cx="566928" cy="5669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40496" y="23591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0496" y="3063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Kolik je 1/2 : 2?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750808" y="4050792"/>
            <a:ext cx="2377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42248" y="440740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42248" y="44759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ODPOVĚĎ:  1/4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57607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Skvělá práce! Zlomky už umíš vysvětlit i použít.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D3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SHRNUTÍ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14813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Děkuji za pozornost!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86384" y="2606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BAE6F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Zlomek je část celku.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AE6F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každá část má své místo.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960120"/>
            <a:ext cx="2331720" cy="4526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0" y="2011680"/>
            <a:ext cx="420624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80576" y="2011680"/>
            <a:ext cx="420624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74352" y="2011680"/>
            <a:ext cx="420624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168128" y="2011680"/>
            <a:ext cx="420624" cy="2377440"/>
          </a:xfrm>
          <a:prstGeom prst="rect">
            <a:avLst/>
          </a:prstGeom>
          <a:solidFill>
            <a:srgbClr val="E0F2FE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4964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3/4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86384" y="5349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Mysli v částech.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0" y="59984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AE6F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Zlomky kolem nás</dc:title>
  <dc:subject>Zlomky – matematika pro 4. třídu</dc:subject>
  <dc:creator>OpenAI</dc:creator>
  <cp:lastModifiedBy>OpenAI</cp:lastModifiedBy>
  <cp:revision>1</cp:revision>
  <dcterms:created xsi:type="dcterms:W3CDTF">2026-08-11T23:19:54Z</dcterms:created>
  <dcterms:modified xsi:type="dcterms:W3CDTF">2026-08-11T23:19:54Z</dcterms:modified>
</cp:coreProperties>
</file>